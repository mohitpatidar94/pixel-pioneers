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50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TECHNORAZZ 2026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057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HACKATHON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 the Gap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011680" y="3657600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240280" y="3657600"/>
            <a:ext cx="7668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Title: Private, Local-First Exam Proctoring Engine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011680" y="4279392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240280" y="42793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Theme: SMART EDUCATION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011680" y="4901184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40280" y="49011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Name: Pixel Pioneers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011680" y="5522976"/>
            <a:ext cx="8138160" cy="512064"/>
          </a:xfrm>
          <a:prstGeom prst="roundRect">
            <a:avLst>
              <a:gd name="adj" fmla="val 14286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240280" y="55229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Number: 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 dirty="0">
                <a:solidFill>
                  <a:srgbClr val="14314E"/>
                </a:solidFill>
                <a:latin typeface="Aptos"/>
              </a:rPr>
              <a:t>EXAMSHIELD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41408" y="24505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b="1" dirty="0">
                <a:solidFill>
                  <a:srgbClr val="232D37"/>
                </a:solidFill>
                <a:latin typeface="Aptos"/>
              </a:rPr>
              <a:t>Private exam proctoring that checks the exam environment on the student’s device.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68580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Explanation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840480"/>
            <a:ext cx="2971800" cy="214884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Runs inside the browser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Checks face, gaze/head pose and multiple faces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Detects tab switching and copy-paste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Sends only a signed event summary, not video</a:t>
            </a:r>
          </a:p>
        </p:txBody>
      </p:sp>
      <p:sp>
        <p:nvSpPr>
          <p:cNvPr id="11" name="Shape 7"/>
          <p:cNvSpPr/>
          <p:nvPr/>
        </p:nvSpPr>
        <p:spPr>
          <a:xfrm>
            <a:off x="448056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Addressed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840480"/>
            <a:ext cx="2971800" cy="214884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Online exams need integrity checks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Raw webcam video creates privacy and storage concerns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Continuous video analysis should happen locally</a:t>
            </a:r>
          </a:p>
        </p:txBody>
      </p:sp>
      <p:sp>
        <p:nvSpPr>
          <p:cNvPr id="14" name="Shape 10"/>
          <p:cNvSpPr/>
          <p:nvPr/>
        </p:nvSpPr>
        <p:spPr>
          <a:xfrm>
            <a:off x="8275320" y="3017520"/>
            <a:ext cx="3520440" cy="3154680"/>
          </a:xfrm>
          <a:prstGeom prst="roundRect">
            <a:avLst>
              <a:gd name="adj" fmla="val 2899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4964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8534400" y="3689604"/>
            <a:ext cx="2971800" cy="214884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Local-first: analysis stays on the device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Privacy by design: no video leaves the browser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Minimal evidence: only important events are reported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232D37"/>
                </a:solidFill>
                <a:latin typeface="Aptos"/>
              </a:rPr>
              <a:t>Digital signature makes the summary verifiable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641908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  <a:latin typeface="Aptos"/>
              </a:rPr>
              <a:t>EXAMSHIELD • PS 2.2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D4A"/>
                </a:solidFill>
              </a:defRPr>
            </a:pPr>
            <a:r>
              <a:rPr dirty="0"/>
              <a:t>1  Technologies to be 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52928"/>
            <a:ext cx="1993392" cy="658368"/>
          </a:xfrm>
          <a:prstGeom prst="roundRect">
            <a:avLst/>
          </a:prstGeom>
          <a:solidFill>
            <a:srgbClr val="EFF7F1"/>
          </a:solidFill>
          <a:ln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600" dirty="0"/>
              <a:t>React</a:t>
            </a:r>
          </a:p>
          <a:p>
            <a:pPr algn="ctr">
              <a:defRPr sz="800">
                <a:solidFill>
                  <a:srgbClr val="69737D"/>
                </a:solidFill>
              </a:defRPr>
            </a:pPr>
            <a:r>
              <a:rPr sz="1600" dirty="0"/>
              <a:t>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852928"/>
            <a:ext cx="1993392" cy="658368"/>
          </a:xfrm>
          <a:prstGeom prst="roundRect">
            <a:avLst/>
          </a:prstGeom>
          <a:solidFill>
            <a:srgbClr val="EFF7F1"/>
          </a:solidFill>
          <a:ln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600" dirty="0" err="1"/>
              <a:t>MediaPipe</a:t>
            </a:r>
            <a:endParaRPr sz="1600" dirty="0"/>
          </a:p>
          <a:p>
            <a:pPr algn="ctr">
              <a:defRPr sz="800">
                <a:solidFill>
                  <a:srgbClr val="69737D"/>
                </a:solidFill>
              </a:defRPr>
            </a:pPr>
            <a:r>
              <a:rPr sz="1600" dirty="0"/>
              <a:t>Face landmarks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852928"/>
            <a:ext cx="1993392" cy="658368"/>
          </a:xfrm>
          <a:prstGeom prst="roundRect">
            <a:avLst/>
          </a:prstGeom>
          <a:solidFill>
            <a:srgbClr val="EFF7F1"/>
          </a:solidFill>
          <a:ln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400" dirty="0"/>
              <a:t>TensorFlow.js</a:t>
            </a:r>
          </a:p>
          <a:p>
            <a:pPr algn="ctr">
              <a:defRPr sz="800">
                <a:solidFill>
                  <a:srgbClr val="69737D"/>
                </a:solidFill>
              </a:defRPr>
            </a:pPr>
            <a:r>
              <a:rPr sz="1400" dirty="0"/>
              <a:t>Browser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2852928"/>
            <a:ext cx="1993392" cy="658368"/>
          </a:xfrm>
          <a:prstGeom prst="roundRect">
            <a:avLst/>
          </a:prstGeom>
          <a:solidFill>
            <a:srgbClr val="EFF7F1"/>
          </a:solidFill>
          <a:ln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600" dirty="0"/>
              <a:t>Web Crypto</a:t>
            </a:r>
          </a:p>
          <a:p>
            <a:pPr algn="ctr">
              <a:defRPr sz="800">
                <a:solidFill>
                  <a:srgbClr val="69737D"/>
                </a:solidFill>
              </a:defRPr>
            </a:pPr>
            <a:r>
              <a:rPr sz="1600" dirty="0"/>
              <a:t>Sign / verify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852928"/>
            <a:ext cx="1993392" cy="658368"/>
          </a:xfrm>
          <a:prstGeom prst="roundRect">
            <a:avLst/>
          </a:prstGeom>
          <a:solidFill>
            <a:srgbClr val="EFF7F1"/>
          </a:solidFill>
          <a:ln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400" dirty="0"/>
              <a:t>Node.js</a:t>
            </a:r>
          </a:p>
          <a:p>
            <a:pPr algn="ctr">
              <a:defRPr sz="800">
                <a:solidFill>
                  <a:srgbClr val="69737D"/>
                </a:solidFill>
              </a:defRPr>
            </a:pPr>
            <a:r>
              <a:rPr sz="1400" dirty="0"/>
              <a:t>API /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85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2D4A"/>
                </a:solidFill>
              </a:defRPr>
            </a:pPr>
            <a:r>
              <a:t>2  Methodology: How ExamShield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60520"/>
            <a:ext cx="1874519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400" dirty="0"/>
              <a:t>STUDENT BROWSER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Webcam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Tab + copy/paste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39" y="4901184"/>
            <a:ext cx="274321" cy="0"/>
          </a:xfrm>
          <a:prstGeom prst="line">
            <a:avLst/>
          </a:prstGeom>
          <a:ln w="27940">
            <a:solidFill>
              <a:srgbClr val="3A8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71800" y="4160520"/>
            <a:ext cx="1874519" cy="1481328"/>
          </a:xfrm>
          <a:prstGeom prst="roundRect">
            <a:avLst/>
          </a:prstGeom>
          <a:solidFill>
            <a:srgbClr val="EFF7F1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600" dirty="0"/>
              <a:t>LOCAL AI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Face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Gaze / head pose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Multiple faces</a:t>
            </a:r>
            <a:endParaRPr lang="en-US" sz="1400" dirty="0"/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lang="en-US" sz="1400" dirty="0"/>
              <a:t>Mobile Phone</a:t>
            </a:r>
            <a:endParaRPr sz="1400" dirty="0"/>
          </a:p>
        </p:txBody>
      </p:sp>
      <p:cxnSp>
        <p:nvCxnSpPr>
          <p:cNvPr id="24" name="Connector 23"/>
          <p:cNvCxnSpPr/>
          <p:nvPr/>
        </p:nvCxnSpPr>
        <p:spPr>
          <a:xfrm>
            <a:off x="4846320" y="4901184"/>
            <a:ext cx="274320" cy="0"/>
          </a:xfrm>
          <a:prstGeom prst="line">
            <a:avLst/>
          </a:prstGeom>
          <a:ln w="27940">
            <a:solidFill>
              <a:srgbClr val="3A8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12080" y="4160520"/>
            <a:ext cx="1874519" cy="1481328"/>
          </a:xfrm>
          <a:prstGeom prst="roundRect">
            <a:avLst/>
          </a:prstGeom>
          <a:solidFill>
            <a:srgbClr val="EFF7F1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600" dirty="0"/>
              <a:t>EVENT ENGINE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Detect unusual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events + timestamps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86600" y="4901184"/>
            <a:ext cx="274320" cy="0"/>
          </a:xfrm>
          <a:prstGeom prst="line">
            <a:avLst/>
          </a:prstGeom>
          <a:ln w="27940">
            <a:solidFill>
              <a:srgbClr val="3A8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52360" y="4160520"/>
            <a:ext cx="1874519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400" dirty="0"/>
              <a:t>SIGNED SUMMARY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Event list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Digital signature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0" y="4901184"/>
            <a:ext cx="274320" cy="0"/>
          </a:xfrm>
          <a:prstGeom prst="line">
            <a:avLst/>
          </a:prstGeom>
          <a:ln w="27940">
            <a:solidFill>
              <a:srgbClr val="3A8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92640" y="4160520"/>
            <a:ext cx="1874519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100" b="1">
                <a:solidFill>
                  <a:srgbClr val="112D4A"/>
                </a:solidFill>
              </a:defRPr>
            </a:pPr>
            <a:r>
              <a:rPr sz="1400" dirty="0"/>
              <a:t>EVALUATOR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Timeline</a:t>
            </a:r>
          </a:p>
          <a:p>
            <a:pPr>
              <a:spcAft>
                <a:spcPts val="200"/>
              </a:spcAft>
              <a:defRPr sz="869">
                <a:solidFill>
                  <a:srgbClr val="232D37"/>
                </a:solidFill>
              </a:defRPr>
            </a:pPr>
            <a:r>
              <a:rPr sz="1400" dirty="0"/>
              <a:t>Verify signature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833872"/>
            <a:ext cx="10835640" cy="502920"/>
          </a:xfrm>
          <a:prstGeom prst="roundRect">
            <a:avLst/>
          </a:prstGeom>
          <a:solidFill>
            <a:srgbClr val="3A825B"/>
          </a:solidFill>
          <a:ln>
            <a:solidFill>
              <a:srgbClr val="3A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916168"/>
            <a:ext cx="10469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400" dirty="0"/>
              <a:t>PRIVACY RULE: Raw webcam video is processed locally and is not sent to the evaluator. Only minimal signed events leave the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46888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51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29184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" y="374904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3931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and Risks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457200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5800" y="502920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60120" y="5212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 Strategies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585216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2468880"/>
            <a:ext cx="5577840" cy="1143000"/>
          </a:xfrm>
          <a:prstGeom prst="rect">
            <a:avLst/>
          </a:prstGeom>
          <a:noFill/>
          <a:ln/>
        </p:spPr>
        <p:txBody>
          <a:bodyPr wrap="square" lIns="73152" rIns="45720" rtlCol="0" anchor="ctr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Normal laptop webcam is enough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Runs in a modern browser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No cloud video storage needed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Uses the technologies listed in PS 2.2</a:t>
            </a:r>
          </a:p>
        </p:txBody>
      </p:sp>
      <p:sp>
        <p:nvSpPr>
          <p:cNvPr id="17" name="Text 13"/>
          <p:cNvSpPr txBox="1"/>
          <p:nvPr/>
        </p:nvSpPr>
        <p:spPr>
          <a:xfrm>
            <a:off x="5669280" y="3749040"/>
            <a:ext cx="5577840" cy="1143000"/>
          </a:xfrm>
          <a:prstGeom prst="rect">
            <a:avLst/>
          </a:prstGeom>
          <a:noFill/>
          <a:ln/>
        </p:spPr>
        <p:txBody>
          <a:bodyPr wrap="square" lIns="73152" rIns="45720" rtlCol="0" anchor="ctr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Poor lighting / camera quality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False alerts from natural movement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Attempts to evade detection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Browser compatibility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5669280" y="5029200"/>
            <a:ext cx="5577840" cy="1143000"/>
          </a:xfrm>
          <a:prstGeom prst="rect">
            <a:avLst/>
          </a:prstGeom>
          <a:noFill/>
          <a:ln/>
        </p:spPr>
        <p:txBody>
          <a:bodyPr wrap="square" lIns="73152" rIns="45720" rtlCol="0" anchor="ctr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Confidence thresholds + multiple signals</a:t>
            </a:r>
            <a:endParaRPr lang="en-US" sz="1600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Store events instead of continuous video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Adversarial testing as a stretch goal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32D37"/>
                </a:solidFill>
                <a:latin typeface="Aptos"/>
              </a:rPr>
              <a:t>Test across browsers and real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641908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  <a:latin typeface="Aptos"/>
              </a:rPr>
              <a:t>EXAMSHIELD • PS 2.2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68580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6012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D37"/>
                </a:solidFill>
                <a:latin typeface="Aptos"/>
              </a:rPr>
              <a:t>Students: better privacy during online exams</a:t>
            </a:r>
            <a:endParaRPr lang="en-US" sz="20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D37"/>
                </a:solidFill>
                <a:latin typeface="Aptos"/>
              </a:rPr>
              <a:t>Institutions: lighter and simpler proctoring</a:t>
            </a:r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D37"/>
                </a:solidFill>
                <a:latin typeface="Aptos"/>
              </a:rPr>
              <a:t>Evaluators: clear event timeline</a:t>
            </a:r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D37"/>
                </a:solidFill>
                <a:latin typeface="Aptos"/>
              </a:rPr>
              <a:t>System: less data to transfer and store</a:t>
            </a:r>
          </a:p>
        </p:txBody>
      </p:sp>
      <p:sp>
        <p:nvSpPr>
          <p:cNvPr id="10" name="Shape 6"/>
          <p:cNvSpPr/>
          <p:nvPr/>
        </p:nvSpPr>
        <p:spPr>
          <a:xfrm>
            <a:off x="621792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3F4F9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92240" y="26974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</a:t>
            </a:r>
            <a:r>
              <a:rPr lang="en-US" sz="2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337560"/>
            <a:ext cx="4709160" cy="265176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D37"/>
                </a:solidFill>
                <a:latin typeface="Aptos"/>
              </a:rPr>
              <a:t>Privacy-first by design</a:t>
            </a:r>
            <a:endParaRPr lang="en-US" dirty="0"/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D37"/>
                </a:solidFill>
                <a:latin typeface="Aptos"/>
              </a:rPr>
              <a:t>Lower bandwidth and storage needs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D37"/>
                </a:solidFill>
                <a:latin typeface="Aptos"/>
              </a:rPr>
              <a:t>Fast local response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D37"/>
                </a:solidFill>
                <a:latin typeface="Aptos"/>
              </a:rPr>
              <a:t>Tamper-evident event summary</a:t>
            </a:r>
          </a:p>
          <a:p>
            <a:pPr marL="285750" indent="-285750">
              <a:lnSpc>
                <a:spcPct val="1000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dirty="0">
                <a:solidFill>
                  <a:srgbClr val="232D37"/>
                </a:solidFill>
                <a:latin typeface="Aptos"/>
              </a:rPr>
              <a:t>Extendable to noisy real-world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41908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  <a:latin typeface="Aptos"/>
              </a:rPr>
              <a:t>EXAMSHIELD • PS 2.2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1183112" cy="9440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572768"/>
            <a:ext cx="566928" cy="566928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858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463040" y="1508760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960120" y="3337560"/>
            <a:ext cx="10241280" cy="2651760"/>
          </a:xfrm>
          <a:prstGeom prst="rect">
            <a:avLst/>
          </a:prstGeom>
          <a:noFill/>
          <a:ln/>
        </p:spPr>
        <p:txBody>
          <a:bodyPr wrap="square" lIns="73152" rIns="45720" rtlCol="0" anchor="t"/>
          <a:lstStyle/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sz="1300">
                <a:solidFill>
                  <a:srgbClr val="232D37"/>
                </a:solidFill>
                <a:latin typeface="Aptos"/>
              </a:rPr>
              <a:t>Primary: TECHNORAZZ 2026 Problem Statement 2.2</a:t>
            </a:r>
            <a:endParaRPr lang="en-US" sz="1500" dirty="0"/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>
                <a:solidFill>
                  <a:srgbClr val="232D37"/>
                </a:solidFill>
                <a:latin typeface="Aptos"/>
              </a:rPr>
              <a:t>MediaPipe — mediapipe.dev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>
                <a:solidFill>
                  <a:srgbClr val="232D37"/>
                </a:solidFill>
                <a:latin typeface="Aptos"/>
              </a:rPr>
              <a:t>TensorFlow.js — tensorflow.org/js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>
                <a:solidFill>
                  <a:srgbClr val="232D37"/>
                </a:solidFill>
                <a:latin typeface="Aptos"/>
              </a:rPr>
              <a:t>Web Crypto API — MDN Web Docs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>
                <a:solidFill>
                  <a:srgbClr val="232D37"/>
                </a:solidFill>
                <a:latin typeface="Aptos"/>
              </a:rPr>
              <a:t>React — react.dev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00">
                <a:solidFill>
                  <a:srgbClr val="232D37"/>
                </a:solidFill>
                <a:latin typeface="Aptos"/>
              </a:rPr>
              <a:t>Node.js — nodejs.org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41908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F6973"/>
                </a:solidFill>
                <a:latin typeface="Aptos"/>
              </a:rPr>
              <a:t>EXAMSHIELD • PS 2.2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5257800" cy="3246120"/>
          </a:xfrm>
          <a:prstGeom prst="roundRect">
            <a:avLst/>
          </a:prstGeom>
          <a:solidFill>
            <a:srgbClr val="EFF7F1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400" b="1">
                <a:solidFill>
                  <a:srgbClr val="112D4A"/>
                </a:solidFill>
              </a:defRPr>
            </a:pPr>
            <a:r>
              <a:rPr dirty="0"/>
              <a:t>1  Research Findings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MediaPipe</a:t>
            </a:r>
            <a:r>
              <a:rPr sz="1600" dirty="0"/>
              <a:t> Face </a:t>
            </a:r>
            <a:r>
              <a:rPr sz="1600" dirty="0" err="1"/>
              <a:t>Landmarker</a:t>
            </a:r>
            <a:r>
              <a:rPr sz="1600" dirty="0"/>
              <a:t> supports face landmarks and live-stream camera input.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• TensorFlow.js provides browser webcam/model APIs for on-device ML workflows.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• Web Crypto supports digital signing and signature verification.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• This supports the PS idea of </a:t>
            </a:r>
            <a:r>
              <a:rPr sz="1600" dirty="0" err="1"/>
              <a:t>analysing</a:t>
            </a:r>
            <a:r>
              <a:rPr sz="1600" dirty="0"/>
              <a:t> evidence locally and reporting a compact result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87168"/>
            <a:ext cx="52578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bIns="73152" rtlCol="0" anchor="ctr"/>
          <a:lstStyle/>
          <a:p>
            <a:pPr algn="ctr">
              <a:defRPr sz="1400" b="1">
                <a:solidFill>
                  <a:srgbClr val="112D4A"/>
                </a:solidFill>
              </a:defRPr>
            </a:pPr>
            <a:r>
              <a:rPr dirty="0"/>
              <a:t>2  References</a:t>
            </a:r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1. TECHNORAZZ 2026 — Problem Statement 2.2</a:t>
            </a:r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2. Google AI Edge / </a:t>
            </a:r>
            <a:r>
              <a:rPr sz="1400" dirty="0" err="1"/>
              <a:t>MediaPipe</a:t>
            </a:r>
            <a:r>
              <a:rPr sz="1400" dirty="0"/>
              <a:t> — Face </a:t>
            </a:r>
            <a:r>
              <a:rPr sz="1400" dirty="0" err="1"/>
              <a:t>Landmarker</a:t>
            </a:r>
            <a:endParaRPr sz="1400" dirty="0"/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   </a:t>
            </a:r>
            <a:r>
              <a:rPr sz="1400" dirty="0" err="1"/>
              <a:t>ai.google.dev</a:t>
            </a:r>
            <a:r>
              <a:rPr sz="1400" dirty="0"/>
              <a:t>/edge/</a:t>
            </a:r>
            <a:r>
              <a:rPr sz="1400" dirty="0" err="1"/>
              <a:t>mediapipe</a:t>
            </a:r>
            <a:endParaRPr sz="1400" dirty="0"/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3. TensorFlow.js API — Webcam / browser ML</a:t>
            </a:r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   js.tensorflow.org</a:t>
            </a:r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4. MDN Web Crypto — sign() / verify()</a:t>
            </a:r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   developer.mozilla.org/docs/Web/API/</a:t>
            </a:r>
            <a:r>
              <a:rPr sz="1400" dirty="0" err="1"/>
              <a:t>SubtleCrypto</a:t>
            </a:r>
            <a:endParaRPr sz="1400" dirty="0"/>
          </a:p>
          <a:p>
            <a:pPr>
              <a:spcAft>
                <a:spcPts val="200"/>
              </a:spcAft>
              <a:defRPr sz="919">
                <a:solidFill>
                  <a:srgbClr val="232D37"/>
                </a:solidFill>
              </a:defRPr>
            </a:pPr>
            <a:r>
              <a:rPr sz="1400" dirty="0"/>
              <a:t>5. React — </a:t>
            </a:r>
            <a:r>
              <a:rPr sz="1400" dirty="0" err="1"/>
              <a:t>react.dev</a:t>
            </a:r>
            <a:r>
              <a:rPr sz="1400" dirty="0"/>
              <a:t>   |   Node.js — nodejs.org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897880"/>
            <a:ext cx="10561320" cy="457200"/>
          </a:xfrm>
          <a:prstGeom prst="roundRect">
            <a:avLst/>
          </a:prstGeom>
          <a:solidFill>
            <a:srgbClr val="F8F4E4"/>
          </a:solidFill>
          <a:ln>
            <a:solidFill>
              <a:srgbClr val="E6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966460"/>
            <a:ext cx="10287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12D4A"/>
                </a:solidFill>
              </a:defRPr>
            </a:pPr>
            <a:r>
              <a:rPr dirty="0"/>
              <a:t>RESEARCH TAKEAWAY: The required building blocks already exist; our innovation is combining them into a privacy-first, minimal-evidence proctoring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584</Words>
  <Application>Microsoft Office PowerPoint</Application>
  <PresentationFormat>Widescreen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3</cp:revision>
  <dcterms:created xsi:type="dcterms:W3CDTF">2026-09-28T09:00:45Z</dcterms:created>
  <dcterms:modified xsi:type="dcterms:W3CDTF">2026-09-30T05:39:27Z</dcterms:modified>
</cp:coreProperties>
</file>